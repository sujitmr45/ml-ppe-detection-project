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1" r:id="rId5"/>
    <p:sldId id="262" r:id="rId6"/>
    <p:sldId id="266" r:id="rId7"/>
    <p:sldId id="263" r:id="rId8"/>
    <p:sldId id="265" r:id="rId9"/>
    <p:sldId id="272" r:id="rId10"/>
    <p:sldId id="273" r:id="rId11"/>
    <p:sldId id="264" r:id="rId12"/>
    <p:sldId id="271" r:id="rId13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2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7" autoAdjust="0"/>
    <p:restoredTop sz="93584" autoAdjust="0"/>
  </p:normalViewPr>
  <p:slideViewPr>
    <p:cSldViewPr snapToGrid="0">
      <p:cViewPr varScale="1">
        <p:scale>
          <a:sx n="54" d="100"/>
          <a:sy n="54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D184CF-6386-4335-9FA2-8DC64AABE7F8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04F552-16CA-4291-B7E2-5B71F6608A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5407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DEE5D00-CD2A-41CC-85D3-713F234E79D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24ABD79B-0200-47C5-BD53-1D0900C10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59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ABD79B-0200-47C5-BD53-1D0900C102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75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ABD79B-0200-47C5-BD53-1D0900C102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64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FE95A-76AD-4562-9BDD-AA40B575DCD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6822586" y="-75605"/>
            <a:ext cx="133081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VIIT</a:t>
            </a:r>
          </a:p>
        </p:txBody>
      </p:sp>
      <p:pic>
        <p:nvPicPr>
          <p:cNvPr id="1026" name="Picture 2" descr="http://www.viit.ac.in/images/viitlogo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26944"/>
            <a:ext cx="762000" cy="6667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9067800" y="74213"/>
            <a:ext cx="2736647" cy="64633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Department of Electronics and</a:t>
            </a:r>
          </a:p>
          <a:p>
            <a:r>
              <a:rPr lang="en-US" dirty="0">
                <a:latin typeface="Arial Narrow" panose="020B0606020202030204" pitchFamily="34" charset="0"/>
              </a:rPr>
              <a:t>Telecommunications</a:t>
            </a:r>
          </a:p>
        </p:txBody>
      </p:sp>
    </p:spTree>
    <p:extLst>
      <p:ext uri="{BB962C8B-B14F-4D97-AF65-F5344CB8AC3E}">
        <p14:creationId xmlns:p14="http://schemas.microsoft.com/office/powerpoint/2010/main" val="4291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21599-19C2-422D-8E99-48A3A80A7807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7279786" y="-87293"/>
            <a:ext cx="1330814" cy="92333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VIIT</a:t>
            </a:r>
          </a:p>
        </p:txBody>
      </p:sp>
      <p:pic>
        <p:nvPicPr>
          <p:cNvPr id="8" name="Picture 2" descr="http://www.viit.ac.in/images/viitlogo.gif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2116" y="-20943"/>
            <a:ext cx="762000" cy="77213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9704116" y="66596"/>
            <a:ext cx="2549423" cy="61555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Arial Narrow" panose="020B0606020202030204" pitchFamily="34" charset="0"/>
              </a:rPr>
              <a:t>Department of Electronics and Telecommunications</a:t>
            </a:r>
          </a:p>
        </p:txBody>
      </p:sp>
    </p:spTree>
    <p:extLst>
      <p:ext uri="{BB962C8B-B14F-4D97-AF65-F5344CB8AC3E}">
        <p14:creationId xmlns:p14="http://schemas.microsoft.com/office/powerpoint/2010/main" val="207404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41634-6EDF-4126-B6BD-F0314E3A545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220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DCF9-3042-4925-A639-CD49D2B7E764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332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272B5-3D87-4BBE-A24C-F0FBEFA0EA7E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33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99372-D806-46A5-9FFA-1E4974927293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16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4A518-7DF4-45AB-81AD-40A8B81A746E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16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771A7-8EE0-4A4F-AED0-8A709439DA2B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30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64C51-9BB0-41F1-8EB2-DC6D7DEA5638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61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42744-7F3C-4C95-A4A4-30757272E7E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18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0566-1B15-427E-A611-E0946A339027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74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D1CF0-3A4C-4427-A3BC-0D20F01CD292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PPE Kit Detection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E2C4E-F76E-4530-B441-125E49167A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10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473199"/>
            <a:ext cx="9144000" cy="3079541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>
            <a:normAutofit fontScale="90000"/>
          </a:bodyPr>
          <a:lstStyle/>
          <a:p>
            <a:pPr>
              <a:spcBef>
                <a:spcPts val="600"/>
              </a:spcBef>
            </a:pPr>
            <a:r>
              <a:rPr lang="en-US" sz="2000" dirty="0">
                <a:latin typeface="Bookman Old Style" panose="02050604050505020204" pitchFamily="18" charset="0"/>
              </a:rPr>
              <a:t>Presentation on</a:t>
            </a:r>
            <a:br>
              <a:rPr lang="en-US" sz="4800" dirty="0">
                <a:latin typeface="Bookman Old Style" panose="02050604050505020204" pitchFamily="18" charset="0"/>
              </a:rPr>
            </a:br>
            <a:r>
              <a:rPr lang="en-US" sz="4800" dirty="0">
                <a:solidFill>
                  <a:srgbClr val="000099"/>
                </a:solidFill>
                <a:latin typeface="Bookman Old Style" panose="02050604050505020204" pitchFamily="18" charset="0"/>
              </a:rPr>
              <a:t>PPE Kit Detection</a:t>
            </a:r>
            <a:br>
              <a:rPr lang="en-US" sz="4800" dirty="0">
                <a:latin typeface="Bookman Old Style" panose="02050604050505020204" pitchFamily="18" charset="0"/>
              </a:rPr>
            </a:br>
            <a:r>
              <a:rPr lang="en-US" sz="2400" i="1" dirty="0">
                <a:latin typeface="Bookman Old Style" panose="02050604050505020204" pitchFamily="18" charset="0"/>
              </a:rPr>
              <a:t>By</a:t>
            </a:r>
            <a:br>
              <a:rPr lang="en-US" sz="2400" i="1" dirty="0">
                <a:latin typeface="Bookman Old Style" panose="02050604050505020204" pitchFamily="18" charset="0"/>
              </a:rPr>
            </a:br>
            <a:br>
              <a:rPr lang="en-US" sz="2400" i="1" dirty="0">
                <a:latin typeface="Bookman Old Style" panose="02050604050505020204" pitchFamily="18" charset="0"/>
              </a:rPr>
            </a:br>
            <a:r>
              <a:rPr lang="en-US" sz="2400" dirty="0">
                <a:latin typeface="Bookman Old Style" panose="02050604050505020204" pitchFamily="18" charset="0"/>
              </a:rPr>
              <a:t>Shreyas Kale– TY B- 223109013- 312001</a:t>
            </a:r>
            <a:br>
              <a:rPr lang="en-US" sz="2400" dirty="0">
                <a:latin typeface="Bookman Old Style" panose="02050604050505020204" pitchFamily="18" charset="0"/>
              </a:rPr>
            </a:br>
            <a:r>
              <a:rPr lang="en-US" sz="2400" dirty="0">
                <a:latin typeface="Bookman Old Style" panose="02050604050505020204" pitchFamily="18" charset="0"/>
              </a:rPr>
              <a:t>Sumant Umardand– TY B- 22310540- 312016</a:t>
            </a:r>
            <a:br>
              <a:rPr lang="en-US" sz="2400" dirty="0">
                <a:latin typeface="Bookman Old Style" panose="02050604050505020204" pitchFamily="18" charset="0"/>
              </a:rPr>
            </a:br>
            <a:r>
              <a:rPr lang="en-US" sz="2400" dirty="0">
                <a:latin typeface="Bookman Old Style" panose="02050604050505020204" pitchFamily="18" charset="0"/>
              </a:rPr>
              <a:t>Sujit Rohokale– TY B- 22310922- 312026</a:t>
            </a:r>
            <a:br>
              <a:rPr lang="en-US" sz="2400" dirty="0">
                <a:latin typeface="Bookman Old Style" panose="02050604050505020204" pitchFamily="18" charset="0"/>
              </a:rPr>
            </a:br>
            <a:br>
              <a:rPr lang="en-US" sz="2400" dirty="0">
                <a:latin typeface="Bookman Old Style" panose="02050604050505020204" pitchFamily="18" charset="0"/>
              </a:rPr>
            </a:br>
            <a:br>
              <a:rPr lang="en-US" sz="2400" dirty="0">
                <a:latin typeface="Bookman Old Style" panose="02050604050505020204" pitchFamily="18" charset="0"/>
              </a:rPr>
            </a:br>
            <a:r>
              <a:rPr lang="en-US" sz="2400" dirty="0">
                <a:latin typeface="Bookman Old Style" panose="02050604050505020204" pitchFamily="18" charset="0"/>
              </a:rPr>
              <a:t>Subject : Machine Learning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8746" y="4552741"/>
            <a:ext cx="11354507" cy="2073274"/>
          </a:xfrm>
        </p:spPr>
        <p:txBody>
          <a:bodyPr>
            <a:normAutofit fontScale="92500" lnSpcReduction="10000"/>
          </a:bodyPr>
          <a:lstStyle/>
          <a:p>
            <a:endParaRPr lang="en-US" dirty="0"/>
          </a:p>
          <a:p>
            <a:r>
              <a:rPr lang="en-US" sz="2300" dirty="0"/>
              <a:t>Guided by</a:t>
            </a:r>
            <a:endParaRPr lang="en-US" sz="3100" dirty="0"/>
          </a:p>
          <a:p>
            <a:r>
              <a:rPr lang="en-US" sz="2600" b="1" dirty="0"/>
              <a:t>Dr. Jyoti Madake</a:t>
            </a:r>
          </a:p>
          <a:p>
            <a:r>
              <a:rPr lang="en-US" sz="2200" dirty="0"/>
              <a:t>Department of Electronics and Telecommunications</a:t>
            </a:r>
          </a:p>
          <a:p>
            <a:r>
              <a:rPr lang="en-US" sz="2300" b="1" dirty="0">
                <a:solidFill>
                  <a:srgbClr val="000099"/>
                </a:solidFill>
              </a:rPr>
              <a:t>Vishwakarma Institute of Information Technology, Pune</a:t>
            </a:r>
            <a:r>
              <a:rPr lang="en-US" sz="2600" b="1" dirty="0">
                <a:solidFill>
                  <a:srgbClr val="000099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638800" y="2923309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507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</a:t>
            </a:r>
          </a:p>
          <a:p>
            <a:r>
              <a:rPr lang="en-IE" dirty="0">
                <a:solidFill>
                  <a:srgbClr val="000000"/>
                </a:solidFill>
              </a:rPr>
              <a:t>Objectives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Methodology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Dataset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Implementation 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Different Phases of Implementation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Results</a:t>
            </a:r>
          </a:p>
          <a:p>
            <a:pPr marL="0" algn="just">
              <a:spcBef>
                <a:spcPts val="600"/>
              </a:spcBef>
            </a:pPr>
            <a:r>
              <a:rPr lang="en-IE" dirty="0">
                <a:solidFill>
                  <a:srgbClr val="000000"/>
                </a:solidFill>
              </a:rPr>
              <a:t>Conclusions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45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09337FC-9BD8-45A0-8486-A5E7E2EA1B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58195"/>
            <a:ext cx="1051560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PPE (Personal Protective Equipment) Kit Detection system aims to ensure safety compliance at industrial or construction sites.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computer vision and deep learning (YOLOv8) to automatically detect whether a person is wearing safety gear like a helmet, gloves, vest, and boots.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live or recorded video frames to identify PPE components and non-compliance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755884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>
                <a:solidFill>
                  <a:srgbClr val="000000"/>
                </a:solidFill>
              </a:rPr>
            </a:br>
            <a:r>
              <a:rPr lang="en-IE" dirty="0">
                <a:solidFill>
                  <a:srgbClr val="000000"/>
                </a:solidFill>
              </a:rPr>
              <a:t>Objectives or</a:t>
            </a:r>
            <a:br>
              <a:rPr lang="en-IE" dirty="0">
                <a:solidFill>
                  <a:srgbClr val="000000"/>
                </a:solidFill>
              </a:rPr>
            </a:br>
            <a:r>
              <a:rPr lang="en-IE" dirty="0">
                <a:solidFill>
                  <a:srgbClr val="000000"/>
                </a:solidFill>
              </a:rPr>
              <a:t>Aim and Objectives</a:t>
            </a:r>
            <a:br>
              <a:rPr lang="en-IE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AI-based detection system that identifies PPE kits worn by workers in real-time using YOLOv8.</a:t>
            </a:r>
          </a:p>
          <a:p>
            <a:pPr marL="0" indent="0">
              <a:buNone/>
            </a:pP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train a YOLOv8m model on a PPE detection dataset.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achieve over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90% detection accuracy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five classes (helmet, vest, gloves, boots, human).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the system using precision, recall, and </a:t>
            </a: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metrics.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implement real-time PPE detection through a live or recorded video stream.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09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0000"/>
                </a:solidFill>
              </a:rPr>
              <a:t>Methodology</a:t>
            </a:r>
            <a:br>
              <a:rPr lang="en-IE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(Roboflow PPE dataset)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Reprocessing &amp; Labelling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using YOLOv8m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and Accuracy Optimization</a:t>
            </a:r>
          </a:p>
          <a:p>
            <a:pPr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Detection Implementation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Hardware Used: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Ultralytics, OpenCV, NumPy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Platform: </a:t>
            </a:r>
            <a:r>
              <a:rPr lang="en-IN" sz="1800" dirty="0"/>
              <a:t>Google Colab (GPU runtime)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Setup: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/>
              <a:t>Windows PC (8–16 GB RAM) with CPU/GPU support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7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used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6</a:t>
            </a:fld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09836A3-592F-417B-83C5-7822E49E93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78205"/>
            <a:ext cx="6187143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Roboflow (Project ID: ppe-detection-yfmym-o5cr7)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 (boots, gloves, helmet, human, vest)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YOLOv8 compatible (images, labels,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data.yaml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Size: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≈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6,000 images (train, valid, test)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Type: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RGB images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License: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 BY 4.0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112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0000"/>
                </a:solidFill>
              </a:rPr>
              <a:t>Different Phases of Implementation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17914B0-45EE-4861-AE83-93DFA5D73B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05506"/>
            <a:ext cx="766748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1: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and augmentation.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Training YOLOv8m model using Roboflow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3: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(precision–recall, confusion matrix).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4: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for real-time PPE detection via webcam/video feed.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51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YOLOv8m (pretrained on COCO, fine-tuned on Roboflow PPE dataset)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Epochs Trained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10(l-Model),50(m-Model)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Accuracy Achieved: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90.4% (mAP@50)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0.91</a:t>
            </a: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0.88</a:t>
            </a:r>
          </a:p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mAP@50-95: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422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/>
              <a:t>IMG.1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E8D22C-1FC0-4427-A475-C6B130BA3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83" y="1442043"/>
            <a:ext cx="4610105" cy="36976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1CEEF5D-46C3-4FFB-8915-9F521169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6113" y="1442043"/>
            <a:ext cx="3888973" cy="39739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06CA79-A5D9-4062-89F7-6D22D474CBC3}"/>
              </a:ext>
            </a:extLst>
          </p:cNvPr>
          <p:cNvSpPr txBox="1"/>
          <p:nvPr/>
        </p:nvSpPr>
        <p:spPr>
          <a:xfrm>
            <a:off x="1823293" y="5415955"/>
            <a:ext cx="2795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IMG.1: Image taken from internet.</a:t>
            </a:r>
            <a:r>
              <a:rPr lang="en-IN" sz="1050" dirty="0"/>
              <a:t>(Test)</a:t>
            </a:r>
            <a:endParaRPr lang="en-GB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5E0411-7CD6-4C43-8939-25542F49DBFF}"/>
              </a:ext>
            </a:extLst>
          </p:cNvPr>
          <p:cNvSpPr txBox="1"/>
          <p:nvPr/>
        </p:nvSpPr>
        <p:spPr>
          <a:xfrm>
            <a:off x="7213057" y="5464537"/>
            <a:ext cx="27950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/>
              <a:t>IMG.2: Testing the model on webcam.</a:t>
            </a:r>
          </a:p>
        </p:txBody>
      </p:sp>
    </p:spTree>
    <p:extLst>
      <p:ext uri="{BB962C8B-B14F-4D97-AF65-F5344CB8AC3E}">
        <p14:creationId xmlns:p14="http://schemas.microsoft.com/office/powerpoint/2010/main" val="571471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8" name="Table 10">
            <a:extLst>
              <a:ext uri="{FF2B5EF4-FFF2-40B4-BE49-F238E27FC236}">
                <a16:creationId xmlns:a16="http://schemas.microsoft.com/office/drawing/2014/main" id="{8B00AA9E-6088-46DE-A560-83AF4F1C5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259438"/>
              </p:ext>
            </p:extLst>
          </p:nvPr>
        </p:nvGraphicFramePr>
        <p:xfrm>
          <a:off x="1073211" y="1611398"/>
          <a:ext cx="9722035" cy="335047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944407">
                  <a:extLst>
                    <a:ext uri="{9D8B030D-6E8A-4147-A177-3AD203B41FA5}">
                      <a16:colId xmlns:a16="http://schemas.microsoft.com/office/drawing/2014/main" val="1403418720"/>
                    </a:ext>
                  </a:extLst>
                </a:gridCol>
                <a:gridCol w="1944407">
                  <a:extLst>
                    <a:ext uri="{9D8B030D-6E8A-4147-A177-3AD203B41FA5}">
                      <a16:colId xmlns:a16="http://schemas.microsoft.com/office/drawing/2014/main" val="2775196636"/>
                    </a:ext>
                  </a:extLst>
                </a:gridCol>
                <a:gridCol w="1944407">
                  <a:extLst>
                    <a:ext uri="{9D8B030D-6E8A-4147-A177-3AD203B41FA5}">
                      <a16:colId xmlns:a16="http://schemas.microsoft.com/office/drawing/2014/main" val="732715854"/>
                    </a:ext>
                  </a:extLst>
                </a:gridCol>
                <a:gridCol w="1944407">
                  <a:extLst>
                    <a:ext uri="{9D8B030D-6E8A-4147-A177-3AD203B41FA5}">
                      <a16:colId xmlns:a16="http://schemas.microsoft.com/office/drawing/2014/main" val="283885268"/>
                    </a:ext>
                  </a:extLst>
                </a:gridCol>
                <a:gridCol w="1944407">
                  <a:extLst>
                    <a:ext uri="{9D8B030D-6E8A-4147-A177-3AD203B41FA5}">
                      <a16:colId xmlns:a16="http://schemas.microsoft.com/office/drawing/2014/main" val="3571318974"/>
                    </a:ext>
                  </a:extLst>
                </a:gridCol>
              </a:tblGrid>
              <a:tr h="687796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Bounding Box Location (Approximate)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(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×H pixels)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2424971"/>
                  </a:ext>
                </a:extLst>
              </a:tr>
              <a:tr h="28187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Vest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93.15%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Right-Center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1667×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521588"/>
                  </a:ext>
                </a:extLst>
              </a:tr>
              <a:tr h="28187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Vest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91.88%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Center-Left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2032×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3192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057583"/>
                  </a:ext>
                </a:extLst>
              </a:tr>
              <a:tr h="28187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Helmet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87.67%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1222×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1101956"/>
                  </a:ext>
                </a:extLst>
              </a:tr>
              <a:tr h="28187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Helmet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87.30%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Top-Right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1000×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6580381"/>
                  </a:ext>
                </a:extLst>
              </a:tr>
              <a:tr h="486515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86.97%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Left-Side (Large)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2662×</a:t>
                      </a: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5444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701353"/>
                  </a:ext>
                </a:extLst>
              </a:tr>
              <a:tr h="486515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71.43%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Right-Side (Large)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2483×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5655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733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19DAB1B-ED5E-41EC-811F-59851F9D1541}"/>
              </a:ext>
            </a:extLst>
          </p:cNvPr>
          <p:cNvSpPr txBox="1"/>
          <p:nvPr/>
        </p:nvSpPr>
        <p:spPr>
          <a:xfrm>
            <a:off x="3982867" y="5108102"/>
            <a:ext cx="42262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Table.1: Object Detection Results Summary of IMG.1</a:t>
            </a:r>
          </a:p>
        </p:txBody>
      </p:sp>
    </p:spTree>
    <p:extLst>
      <p:ext uri="{BB962C8B-B14F-4D97-AF65-F5344CB8AC3E}">
        <p14:creationId xmlns:p14="http://schemas.microsoft.com/office/powerpoint/2010/main" val="3744314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0000"/>
                </a:solidFill>
              </a:rPr>
              <a:t>Conclusion</a:t>
            </a:r>
            <a:br>
              <a:rPr lang="en-IE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13B3D-741A-4857-802B-761375DD5B95}"/>
              </a:ext>
            </a:extLst>
          </p:cNvPr>
          <p:cNvSpPr txBox="1"/>
          <p:nvPr/>
        </p:nvSpPr>
        <p:spPr>
          <a:xfrm>
            <a:off x="838200" y="1471474"/>
            <a:ext cx="1051560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we trained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YOLOv8m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fine-tuned on the PPE dataset from Roboflow.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was trained for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50 epochs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gave an accuracy of around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90% (mAP@50)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detect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helmet, vest, gloves, boots, and human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very clearly in both images and videos.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During testing, the detections were quite accurate, and the labels appeared correctly for all PPE items.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connected with a webcam, it was able to detect PPE kits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without much delay.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7799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3832-9E4D-1566-8BBE-A5D1E2A8E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9EC40-C64F-8676-8627-9E44016A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275" y="282257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</a:t>
            </a:r>
            <a:r>
              <a:rPr lang="en-US" sz="7300" dirty="0"/>
              <a:t>THANK-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DE0130-6ADD-AEAC-DC00-06BDE6E2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PPE Kit Detection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A878F-B02B-0E3C-17C9-B848AE25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2C4E-F76E-4530-B441-125E49167A3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536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YHD-Custom1">
      <a:majorFont>
        <a:latin typeface="Georgia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IT-ETC Temp" id="{1338105A-F749-4CCD-91BC-0B63B4C2F660}" vid="{14126956-D7DD-4666-BA19-925DFF610A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8033</TotalTime>
  <Words>715</Words>
  <Application>Microsoft Office PowerPoint</Application>
  <PresentationFormat>Widescreen</PresentationFormat>
  <Paragraphs>144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Narrow</vt:lpstr>
      <vt:lpstr>Bookman Old Style</vt:lpstr>
      <vt:lpstr>Calibri</vt:lpstr>
      <vt:lpstr>Georgia</vt:lpstr>
      <vt:lpstr>Times New Roman</vt:lpstr>
      <vt:lpstr>Wingdings</vt:lpstr>
      <vt:lpstr>Office Theme</vt:lpstr>
      <vt:lpstr>Presentation on PPE Kit Detection By  Shreyas Kale– TY B- 223109013- 312001 Sumant Umardand– TY B- 22310540- 312016 Sujit Rohokale– TY B- 22310922- 312026   Subject : Machine Learning </vt:lpstr>
      <vt:lpstr>Outline</vt:lpstr>
      <vt:lpstr>Introduction</vt:lpstr>
      <vt:lpstr> Objectives or Aim and Objectives </vt:lpstr>
      <vt:lpstr>Methodology </vt:lpstr>
      <vt:lpstr>Dataset used</vt:lpstr>
      <vt:lpstr>Different Phases of Implementation</vt:lpstr>
      <vt:lpstr>Results</vt:lpstr>
      <vt:lpstr>Results</vt:lpstr>
      <vt:lpstr>Results</vt:lpstr>
      <vt:lpstr>Conclusion </vt:lpstr>
      <vt:lpstr> THANK-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RANGANATH ROHOKALE</cp:lastModifiedBy>
  <cp:revision>262</cp:revision>
  <cp:lastPrinted>2018-07-12T01:20:30Z</cp:lastPrinted>
  <dcterms:created xsi:type="dcterms:W3CDTF">2017-08-14T16:57:40Z</dcterms:created>
  <dcterms:modified xsi:type="dcterms:W3CDTF">2025-11-03T08:09:06Z</dcterms:modified>
</cp:coreProperties>
</file>